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1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56448" y="960120"/>
            <a:ext cx="30632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58784" y="1371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DADS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558784" y="19933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CATALOG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833104" y="3310128"/>
            <a:ext cx="1737360" cy="438912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33104" y="3456432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FIXED SPEC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1024128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デジタル庁デザインシステム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HTML版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1847088"/>
            <a:ext cx="6537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コンポーネント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仕様カタログ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21792" y="3310128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リポジトリ実装を唯一の基準とする、静的PowerPoint仕様書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52852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D4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42 components  |  46 slides  |  Source: src/components/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57607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8F1F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固定仕様版  |  2026-09-27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CATALOG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カタログの読み方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実装との差異を避けるため、各ページは変化しない仕様項目と根拠を併記します。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520440" cy="333756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48840"/>
            <a:ext cx="420624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286000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2852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固定仕様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34290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属性、状態、支援技術上の要点を実装から抽出。PPT上の要素は操作不能な静的見本です。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370832" y="1874520"/>
            <a:ext cx="3520440" cy="333756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148840"/>
            <a:ext cx="420624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286000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17720" y="2852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一次根拠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コンポーネントごとにMDX、CSS、HTML例の所在と件数を明記します。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284464" y="1874520"/>
            <a:ext cx="3520440" cy="333756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2148840"/>
            <a:ext cx="420624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1352" y="2286000"/>
            <a:ext cx="420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31352" y="2852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確認方法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31352" y="34290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視覚状態・キーボード操作・レスポンシブ挙動はStorybookまたはHTML例で確認します。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5720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対象：42コンポーネント。UIの動的挙動・支援技術での読み上げは静的資料では再現せず、注記として扱います。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/ 46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共通トークンと実装原則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src/global.css および src/docs/development-policy.mdx を基準とする固定値。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76672" cy="84124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0025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フォント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40280" y="19933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Noto Sans JP / Noto Sans Mono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76672" cy="84124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20025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キーカラー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19933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--color-key-50 〜 --color-key-1200（Blue階調）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5376672" cy="84124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455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フォーカス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0" y="31363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4px black outline + 2px yellow-300 outer 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971800"/>
            <a:ext cx="5376672" cy="84124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31455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エレベーション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31363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--elevation-1 〜 --elevation-8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376672" cy="84124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2885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基準ブレークポイント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42793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48rem（768px）、モバイルファースト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376672" cy="84124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42885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2793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WCAG 2.2 A/AA、強制カラー・視覚効果低減に配慮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5440680"/>
            <a:ext cx="10835640" cy="402336"/>
          </a:xfrm>
          <a:prstGeom prst="rect">
            <a:avLst/>
          </a:prstGeom>
          <a:solidFill>
            <a:srgbClr val="FFD43D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577840"/>
            <a:ext cx="10378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フォーカス見本：視覚的な状態だけでなく、フォーカス順・キーボード操作・ARIAの整合を実装側で確認する。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/ 46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INVENTORY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全コンポーネント一覧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42件をアルファベット順で固定収録。各コンポーネントは次ページ以降に1件ずつ掲載します。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1069848" y="178308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Accordion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069848" y="208483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Blockquote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23865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069848" y="238658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Breadcrumb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26883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1069848" y="268833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Button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069848" y="2990088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Calendar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1069848" y="329184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Card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35935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069848" y="359359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Carousel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8953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1069848" y="389534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Checkbox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419709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1069848" y="419709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Chip Label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44988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1069848" y="4498848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Date Picker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48006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1069848" y="480060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Description List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" y="510235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069848" y="510235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Disclosure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4360" y="540410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1069848" y="540410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Divider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4360" y="570585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1069848" y="570585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Drawer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0" y="17830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4864608" y="178308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Emergency Banner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89120" y="20848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4864608" y="208483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File Upload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89120" y="23865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4864608" y="238658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 Control Label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89120" y="26883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4864608" y="268833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Hamburger Menu Button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0" y="29900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730" dirty="0"/>
          </a:p>
        </p:txBody>
      </p:sp>
      <p:sp>
        <p:nvSpPr>
          <p:cNvPr id="42" name="Text 40"/>
          <p:cNvSpPr/>
          <p:nvPr/>
        </p:nvSpPr>
        <p:spPr>
          <a:xfrm>
            <a:off x="4864608" y="2990088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Heading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389120" y="329184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4864608" y="329184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Horizontal Menu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389120" y="35935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4864608" y="359359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Image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89120" y="38953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4864608" y="389534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Input Text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389120" y="419709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4864608" y="419709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Language Selector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389120" y="44988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</a:t>
            </a:r>
            <a:endParaRPr lang="en-US" sz="730" dirty="0"/>
          </a:p>
        </p:txBody>
      </p:sp>
      <p:sp>
        <p:nvSpPr>
          <p:cNvPr id="52" name="Text 50"/>
          <p:cNvSpPr/>
          <p:nvPr/>
        </p:nvSpPr>
        <p:spPr>
          <a:xfrm>
            <a:off x="4864608" y="4498848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389120" y="48006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</a:t>
            </a:r>
            <a:endParaRPr lang="en-US" sz="730" dirty="0"/>
          </a:p>
        </p:txBody>
      </p:sp>
      <p:sp>
        <p:nvSpPr>
          <p:cNvPr id="54" name="Text 52"/>
          <p:cNvSpPr/>
          <p:nvPr/>
        </p:nvSpPr>
        <p:spPr>
          <a:xfrm>
            <a:off x="4864608" y="480060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List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389120" y="510235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</a:t>
            </a:r>
            <a:endParaRPr lang="en-US" sz="730" dirty="0"/>
          </a:p>
        </p:txBody>
      </p:sp>
      <p:sp>
        <p:nvSpPr>
          <p:cNvPr id="56" name="Text 54"/>
          <p:cNvSpPr/>
          <p:nvPr/>
        </p:nvSpPr>
        <p:spPr>
          <a:xfrm>
            <a:off x="4864608" y="510235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Menu List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389120" y="540410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</a:t>
            </a:r>
            <a:endParaRPr lang="en-US" sz="730" dirty="0"/>
          </a:p>
        </p:txBody>
      </p:sp>
      <p:sp>
        <p:nvSpPr>
          <p:cNvPr id="58" name="Text 56"/>
          <p:cNvSpPr/>
          <p:nvPr/>
        </p:nvSpPr>
        <p:spPr>
          <a:xfrm>
            <a:off x="4864608" y="540410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Menu List Box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389120" y="570585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</a:t>
            </a:r>
            <a:endParaRPr lang="en-US" sz="730" dirty="0"/>
          </a:p>
        </p:txBody>
      </p:sp>
      <p:sp>
        <p:nvSpPr>
          <p:cNvPr id="60" name="Text 58"/>
          <p:cNvSpPr/>
          <p:nvPr/>
        </p:nvSpPr>
        <p:spPr>
          <a:xfrm>
            <a:off x="4864608" y="570585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Modal Dialog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183880" y="17830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29</a:t>
            </a:r>
            <a:endParaRPr lang="en-US" sz="730" dirty="0"/>
          </a:p>
        </p:txBody>
      </p:sp>
      <p:sp>
        <p:nvSpPr>
          <p:cNvPr id="62" name="Text 60"/>
          <p:cNvSpPr/>
          <p:nvPr/>
        </p:nvSpPr>
        <p:spPr>
          <a:xfrm>
            <a:off x="8659368" y="178308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Notification Banner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183880" y="20848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</a:t>
            </a:r>
            <a:endParaRPr lang="en-US" sz="730" dirty="0"/>
          </a:p>
        </p:txBody>
      </p:sp>
      <p:sp>
        <p:nvSpPr>
          <p:cNvPr id="64" name="Text 62"/>
          <p:cNvSpPr/>
          <p:nvPr/>
        </p:nvSpPr>
        <p:spPr>
          <a:xfrm>
            <a:off x="8659368" y="208483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Page Navigation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183880" y="23865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31</a:t>
            </a:r>
            <a:endParaRPr lang="en-US" sz="730" dirty="0"/>
          </a:p>
        </p:txBody>
      </p:sp>
      <p:sp>
        <p:nvSpPr>
          <p:cNvPr id="66" name="Text 64"/>
          <p:cNvSpPr/>
          <p:nvPr/>
        </p:nvSpPr>
        <p:spPr>
          <a:xfrm>
            <a:off x="8659368" y="238658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Progress Indicator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183880" y="26883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</a:t>
            </a:r>
            <a:endParaRPr lang="en-US" sz="730" dirty="0"/>
          </a:p>
        </p:txBody>
      </p:sp>
      <p:sp>
        <p:nvSpPr>
          <p:cNvPr id="68" name="Text 66"/>
          <p:cNvSpPr/>
          <p:nvPr/>
        </p:nvSpPr>
        <p:spPr>
          <a:xfrm>
            <a:off x="8659368" y="268833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Radio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183880" y="29900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33</a:t>
            </a:r>
            <a:endParaRPr lang="en-US" sz="730" dirty="0"/>
          </a:p>
        </p:txBody>
      </p:sp>
      <p:sp>
        <p:nvSpPr>
          <p:cNvPr id="70" name="Text 68"/>
          <p:cNvSpPr/>
          <p:nvPr/>
        </p:nvSpPr>
        <p:spPr>
          <a:xfrm>
            <a:off x="8659368" y="2990088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Resource List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183880" y="329184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34</a:t>
            </a:r>
            <a:endParaRPr lang="en-US" sz="730" dirty="0"/>
          </a:p>
        </p:txBody>
      </p:sp>
      <p:sp>
        <p:nvSpPr>
          <p:cNvPr id="72" name="Text 70"/>
          <p:cNvSpPr/>
          <p:nvPr/>
        </p:nvSpPr>
        <p:spPr>
          <a:xfrm>
            <a:off x="8659368" y="329184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Search Box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183880" y="35935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</a:t>
            </a:r>
            <a:endParaRPr lang="en-US" sz="730" dirty="0"/>
          </a:p>
        </p:txBody>
      </p:sp>
      <p:sp>
        <p:nvSpPr>
          <p:cNvPr id="74" name="Text 72"/>
          <p:cNvSpPr/>
          <p:nvPr/>
        </p:nvSpPr>
        <p:spPr>
          <a:xfrm>
            <a:off x="8659368" y="359359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183880" y="389534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36</a:t>
            </a:r>
            <a:endParaRPr lang="en-US" sz="730" dirty="0"/>
          </a:p>
        </p:txBody>
      </p:sp>
      <p:sp>
        <p:nvSpPr>
          <p:cNvPr id="76" name="Text 74"/>
          <p:cNvSpPr/>
          <p:nvPr/>
        </p:nvSpPr>
        <p:spPr>
          <a:xfrm>
            <a:off x="8659368" y="389534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Navigation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183880" y="419709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37</a:t>
            </a:r>
            <a:endParaRPr lang="en-US" sz="730" dirty="0"/>
          </a:p>
        </p:txBody>
      </p:sp>
      <p:sp>
        <p:nvSpPr>
          <p:cNvPr id="78" name="Text 76"/>
          <p:cNvSpPr/>
          <p:nvPr/>
        </p:nvSpPr>
        <p:spPr>
          <a:xfrm>
            <a:off x="8659368" y="419709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Switch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183880" y="44988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38</a:t>
            </a:r>
            <a:endParaRPr lang="en-US" sz="730" dirty="0"/>
          </a:p>
        </p:txBody>
      </p:sp>
      <p:sp>
        <p:nvSpPr>
          <p:cNvPr id="80" name="Text 78"/>
          <p:cNvSpPr/>
          <p:nvPr/>
        </p:nvSpPr>
        <p:spPr>
          <a:xfrm>
            <a:off x="8659368" y="4498848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183880" y="48006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39</a:t>
            </a:r>
            <a:endParaRPr lang="en-US" sz="730" dirty="0"/>
          </a:p>
        </p:txBody>
      </p:sp>
      <p:sp>
        <p:nvSpPr>
          <p:cNvPr id="82" name="Text 80"/>
          <p:cNvSpPr/>
          <p:nvPr/>
        </p:nvSpPr>
        <p:spPr>
          <a:xfrm>
            <a:off x="8659368" y="480060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8183880" y="510235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</a:t>
            </a:r>
            <a:endParaRPr lang="en-US" sz="730" dirty="0"/>
          </a:p>
        </p:txBody>
      </p:sp>
      <p:sp>
        <p:nvSpPr>
          <p:cNvPr id="84" name="Text 82"/>
          <p:cNvSpPr/>
          <p:nvPr/>
        </p:nvSpPr>
        <p:spPr>
          <a:xfrm>
            <a:off x="8659368" y="510235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Textarea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183880" y="540410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41</a:t>
            </a:r>
            <a:endParaRPr lang="en-US" sz="730" dirty="0"/>
          </a:p>
        </p:txBody>
      </p:sp>
      <p:sp>
        <p:nvSpPr>
          <p:cNvPr id="86" name="Text 84"/>
          <p:cNvSpPr/>
          <p:nvPr/>
        </p:nvSpPr>
        <p:spPr>
          <a:xfrm>
            <a:off x="8659368" y="5404104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Toc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183880" y="570585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42</a:t>
            </a:r>
            <a:endParaRPr lang="en-US" sz="730" dirty="0"/>
          </a:p>
        </p:txBody>
      </p:sp>
      <p:sp>
        <p:nvSpPr>
          <p:cNvPr id="88" name="Text 86"/>
          <p:cNvSpPr/>
          <p:nvPr/>
        </p:nvSpPr>
        <p:spPr>
          <a:xfrm>
            <a:off x="8659368" y="570585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Utility Link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/ 46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01  /  accordion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Accordion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Accordion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属性バリエーションなし／実装参照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 / open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キーボード操作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src/components/accordion/accordion.mdx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/ 46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02  /  blockquote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Blockquote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Blockquote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data-spacing: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ネイティブ要素・文脈に応じて確認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src/components/blockquote/blockquote.mdx  |  CSS 1件  |  HTML例 3件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normal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/ 46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03  /  breadcrumb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Breadcrumb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Breadcrumb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属性バリエーションなし／実装参照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src/components/breadcrumb/breadcrumb.mdx  |  CSS 1件  |  HTML例 3件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 / 46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04  /  button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Button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Button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md / data-type: solid-fill / data-size: lg / data-size: sm / data-size: xs / data-type: outline / data-type: 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 / disabled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src/components/button/button.mdx  |  CSS 1件  |  HTML例 3件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disabled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 / 46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05  /  calendar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Calendar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Calendar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sm / data-type: outline / data-type: 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 / disabled / error / selected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 / キーボード操作 / フォーカス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src/components/calendar/calendar.mdx  |  CSS 1件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disabled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 / 46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06  /  card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イメージエリアはDOM上ではメインエリアの後に位置し、グリッドレイアウトにより見た目上は左に配置しています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sm / data-type: outline / data-type: solid-fill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checked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src/components/card/card.mdx  |  CSS 6件  |  HTML例 6件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checked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46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07  /  carousel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Carousel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Carousel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data-js-unit: スライド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 / error / selected / open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 / フォーカス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src/components/carousel/carousel.mdx  |  CSS 2件  |  HTML例 3件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selected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46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08  /  checkbox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Checkbox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Checkbox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sm / data-required: true / data-size: lg / data-size: 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disabled / error / checked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src/components/checkbox/checkbox.mdx  |  CSS 1件  |  HTML例 6件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disabled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checked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/ 46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09  /  chip-label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Chip Label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Chip Label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data-style: text / data-color: gray / data-style: filled-1 / data-color: blue / data-color: light-blue / data-color: cyan / data-color: green / data-color: lime / data-color: yellow / data-color: orange / data-color: red / data-color: magenta / data-color: purple / data-style: outlined / data-style: filled-2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キーボード操作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src/components/chip-label/chip-label.mdx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 / 46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10  /  date-picker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Date Picker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Date Picker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Consolidatedタイプでキーボードナビゲーション（←→キーによるフィールド間移動）を実装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data-type: consolidated / data-size: md / data-type: separated / data-required: true / data-size: sm / data-type: outline / data-type: text / data-size: lg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 / disabled / error / selected / expanded / readonly / open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 / キーボード操作 / フォーカス / スクリーンリーダー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src/components/date-picker/date-picker.mdx  |  CSS 2件  |  HTML例 4件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disabled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 / 46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11  /  description-list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Description 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Description List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data-marker: bullet / data-marker: custom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src/components/description-list/description-list.mdx  |  CSS 1件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normal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 / 46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12  /  disclosure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Disclosure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Disclosure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属性バリエーションなし／実装参照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 / error / open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キーボード操作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src/components/disclosure/disclosure.mdx  |  CSS 1件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 / 46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13  /  divider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Divider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Divider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data-color: solid-gray-420 / data-style: solid / data-width: 1 / data-color: solid-gray-536 / data-color: black / data-width: 2 / data-width: 3 / data-width: 4 / data-style: dashed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ネイティブ要素・文脈に応じて確認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src/components/divider/divider.mdx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normal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 / 46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14  /  drawer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Drawer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Drawer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data-placement: right / data-placement: left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src/components/drawer/drawer.mdx  |  CSS 1件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 / 46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15  /  emergency-banner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Emergency Banner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Emergency Banner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属性バリエーションなし／実装参照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src/components/emergency-banner/emergency-banner.mdx  |  CSS 1件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 / 46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16  /  file-upload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File Upload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File Upload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**ファイル選択**: ボタンクリックまたはドラッグ＆ドロップでファイルを選択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data-error-invalid-type: PNG/JPEG/GIF形式の画像、Excel/Word/PowerPoint/PDF形式のドキュメントだけが選択できます。 / data-type: outline / data-size: md / data-slot: fileName / data-slot: fileSize / data-slot: fileSizeBytes / data-type: text / data-size: xs / data-error-max-files: 選択できるファイル数は{max}個までです。現在{current}個です。 / data-error-max-total-size: 選択できるファイルサイズの合計は{max}までです。現在{current}です。 / data-error-invalid-type: このファイル形式はアップロードできません。 / data-error-max-file-size: 選択できるファイルサイズは{max}までです。現在{current}です。 / data-error-max-files: The number of files that can be selected has exceeded the limit. / data-error-max-total-size: The total size of files that can be selected has exceeded the limit. / data-error-invalid-type: This file format is not allowed. / data-error-max-file-size: The file size has exceeded the limit. / data-error-has-file-errors: There are errors in the selected files. Please reselect the files with errors. / data-announce-drop-available: You can drop files here. / data-announce-drop-unavailable: Outside of the drop area. / data-label-selected-files: {count} files (Total: {sizeFormatted} / {sizeBytes} bytes) / data-required: false / data-has-error: true / data-dragover: true / data-multiple: false / data-multiple: true / data-error: true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 / error / selected / expanded / checked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 / キーボード操作 / フォーカス / スクリーンリーダー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src/components/file-upload/file-upload.mdx  |  CSS 2件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selected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expanded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checked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 / 46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17  /  form-control-label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 Control Label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 Control Label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md / data-required: true / data-required: false / data-size: sm / data-size: lg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 / フォーカス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src/components/form-control-label/form-control-label.mdx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 / 46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18  /  hamburger-menu-button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Hamburger Menu Button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Hamburger Menu Button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属性バリエーションなし／実装参照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 / キーボード操作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src/components/hamburger-menu-button/hamburger-menu-button.mdx  |  CSS 2件  |  HTML例 3件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 / 46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19  /  heading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Heading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Heading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36 / data-rule: 6 / data-size: 64 / data-size: 57 / data-size: 45 / data-size: 32 / data-size: 28 / data-size: 24 / data-size: 20 / data-size: 18 / data-size: 16 / data-rule: 8 / data-rule: 4 / data-rule: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キーボード操作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src/components/heading/heading.mdx  |  CSS 1件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 / 46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20  /  horizontal-menu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Horizontal Menu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Horizontal Menu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属性バリエーションなし／実装参照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 / expanded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キーボード操作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src/components/horizontal-menu/horizontal-menu.mdx  |  CSS 1件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expanded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 / 46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21  /  image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data-style: dashed / data-style: solid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src/components/image/image.mdx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 / 46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22  /  input-text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Input 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Input Text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sm / data-size: md / data-required: true / data-size: lg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disabled / error / readonly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src/components/input-text/input-text.mdx  |  CSS 1件  |  HTML例 3件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disabled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readonly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 / 46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23  /  language-selector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Language Selector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Language Selector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メニュー外をクリックするとメニューが閉じます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sm / data-style: text / data-text-weight: normal / data-type: box / data-size: regular / data-type: 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expanded / open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キーボード操作 / フォーカス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src/components/language-selector/language-selector.mdx  |  CSS 2件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expanded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 / 46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24  /  link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属性バリエーションなし／実装参照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 / 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src/components/link/link.mdx  |  CSS 1件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 / 46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25  /  list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data-spacing: 4 / data-marker: number / data-spacing: 8 / data-spacing: 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ネイティブ要素・文脈に応じて確認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src/components/list/list.mdx  |  CSS 1件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normal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29 / 46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26  /  menu-list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Menu 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Menu List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data-type: standard / data-size: regular / data-type: box / data-size: small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 / expanded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 / スクリーンリーダー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src/components/menu-list/menu-list.mdx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expanded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 / 46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27  /  menu-list-box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Menu List Box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Menu List Box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キーボードナビゲーション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sm / data-style: text / data-text-weight: normal / data-type: box / data-size: regular / data-type: standard / data-type: text / data-size: md / data-style: outlined / data-style: filled / data-text-weight: bold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 / selected / expanded / open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 / キーボード操作 / フォーカス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src/components/menu-list-box/menu-list-box.mdx  |  CSS 2件  |  HTML例 1件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expanded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31 / 46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28  /  modal-dialog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Modal Dialog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Modal Dialog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lg / data-type: solid-fill / data-scroll: inner / data-scroll: outer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 / open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 / フォーカス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src/components/modal-dialog/modal-dialog.mdx  |  CSS 1件  |  HTML例 6件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 / 46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29  /  notification-banner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Notification Banner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Notification Banner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data-style: standard / data-type: success / data-size: md / data-type: outline / data-type: solid-fill / data-type: error / data-type: info-1 / data-type: info-2 / data-type: warning / data-style: color-chip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src/components/notification-banner/notification-banner.mdx  |  CSS 1件  |  HTML例 6件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33 / 46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30  /  page-navigation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Page Navigation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Page Navigation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data-type: text / data-size: md / data-control: prev / data-control: next / data-type: outline / data-size: lg / data-size: sm / data-size: xs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 / スクリーンリーダー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src/components/page-navigation/page-navigation.mdx  |  CSS 1件  |  HTML例 3件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34 / 46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31  /  progress-indicator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Progress Indicator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Progress Indicator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**JavaScript**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data-type: stacked / data-announce-start: Loading started / data-announce-end: Loading complete / data-announce-long: Still loading / data-announce-long-with-value: {value}% loaded / data-size: md / data-type: solid-fill / data-type: inlined / data-type: stacked-underlay / data-size: sm / data-type: outline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 / キーボード操作 / スクリーンリーダー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src/components/progress-indicator/progress-indicator.mdx  |  CSS 2件  |  HTML例 6件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 / 46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32  /  radio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Radio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Radio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sm / data-required: true / data-size: lg / data-size: 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disabled / error / checked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src/components/radio/radio.mdx  |  CSS 1件  |  HTML例 5件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disabled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checked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36 / 46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33  /  resource-list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Resource 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Resource List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data-style: list / data-size: md / data-interaction: whole / data-style: frame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 / disabled / error / checked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src/components/resource-list/resource-list.mdx  |  CSS 1件  |  HTML例 3件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disabled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37 / 46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34  /  search-box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Search Box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Search Box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lg / data-type: solid-fill / data-type: text / data-size: sm / data-size: 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 / checked / open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src/components/search-box/search-box.mdx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38 / 46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35  /  select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md / data-required: true / data-size: sm / data-size: lg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disabled / 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src/components/select/select.mdx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disabled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39 / 46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36  /  step-navigation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Navigation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Navigation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data-orientation: horizontal / data-size: normal / data-state: reached / data-state: completed / data-state: editing / data-state: error / data-state: skipped / data-size: small / data-orientation: vertical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 / キーボード操作 / スクリーンリーダー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src/components/step-navigation/step-navigation.mdx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 / 46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37  /  switch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Switch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Switch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**モードスイッチでは、どちらの選択肢をクリックしても状態がトグルします**（2択のため、選択中の側をクリックした場合も反対側に切り替わります）。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md / data-required: true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 / disabled / error / checked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 / キーボード操作 / フォーカス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src/components/switch/switch.mdx  |  CSS 2件  |  HTML例 4件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disabled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41 / 46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38  /  tab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data-position: bottom / data-activation: auto / data-activation: manual / data-position: left / data-size: 24 / data-position: top / data-position: right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 / selected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 / キーボード操作 / フォーカス / スクリーンリーダー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src/components/tab/tab.mdx  |  CSS 1件  |  HTML例 4件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42 / 46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39  /  table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Table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**追加で必要**（モバイル表示でスクロールシャドーを使用する場合）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data-border: right / data-border: right bottom / data-border: hidden / data-border: top-hidden / data-cell-border: bottom / data-cell-border: right / data-size: dense / data-size: sm / data-bg: solid-gray-100 / data-width: full / data-layout: fixed / data-bg: white / data-bg: solid-gray-50 / data-bg: transparent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error / checked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 / スクリーンリーダー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src/components/table/table.mdx  |  CSS 1件  |  HTML例 18件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checked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43 / 46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40  /  textarea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Textarea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Textarea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**文字数カウンターを使用する場合**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data-size: md / data-required: true / data-error-exceeded: {count} characters exceeded. / data-announce-exceeded: {count} characters exceeded. / data-announce-remaining: {count} characters remaining.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focus / disabled / error / readonly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 / スクリーンリーダー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src/components/textarea/textarea.mdx  |  CSS 1件  |  HTML例 4件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disabled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226296" y="5385816"/>
            <a:ext cx="932688" cy="237744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readonly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44 / 46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41  /  toc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data-spacing: 8 / data-border: dotted / data-border: solid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ラベル／代替テキスト / フォーカス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src/components/toc/toc.mdx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normal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 / 46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31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42  /  utility-link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Utility Link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実装ソースを基準とした固定仕様。PowerPoint上の見本は静的表示です。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22192" cy="4297680"/>
          </a:xfrm>
          <a:prstGeom prst="rect">
            <a:avLst/>
          </a:prstGeom>
          <a:solidFill>
            <a:srgbClr val="F2F2F2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STATIC SPECIMEN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2313432"/>
            <a:ext cx="33101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615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1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Utility Link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0083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静的仕様見本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5296" y="3456432"/>
            <a:ext cx="2194560" cy="42062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5935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代表状態を確認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480974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動作・遷移・フォーカスは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実装／Storybookで検証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737360"/>
            <a:ext cx="7114032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仕様概要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詳細は同梱MDXおよび実装ソースを参照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862072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バリエーション／属性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10328" y="3035808"/>
            <a:ext cx="6492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属性バリエーションなし／実装参照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3831336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静的に記載する状態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0328" y="4005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 / active / focus / 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8313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アクセシビリティ確認点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321040" y="4005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ARIA属性 / role / ラベル／代替テキスト / スクリーンリーダー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4608576"/>
            <a:ext cx="6492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根拠ファイル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910328" y="47823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src/components/utility-link/utility-link.mdx  |  CSS 1件  |  HTML例 2件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0328" y="5385816"/>
            <a:ext cx="932688" cy="237744"/>
          </a:xfrm>
          <a:prstGeom prst="rect">
            <a:avLst/>
          </a:prstGeom>
          <a:solidFill>
            <a:srgbClr val="0031D8"/>
          </a:solidFill>
          <a:ln w="12700">
            <a:solidFill>
              <a:srgbClr val="0031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hover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89320" y="5385816"/>
            <a:ext cx="932688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active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68312" y="5385816"/>
            <a:ext cx="932688" cy="237744"/>
          </a:xfrm>
          <a:prstGeom prst="rect">
            <a:avLst/>
          </a:prstGeom>
          <a:solidFill>
            <a:srgbClr val="259D63"/>
          </a:solidFill>
          <a:ln w="12700">
            <a:solidFill>
              <a:srgbClr val="259D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8147304" y="5385816"/>
            <a:ext cx="932688" cy="237744"/>
          </a:xfrm>
          <a:prstGeom prst="rect">
            <a:avLst/>
          </a:prstGeom>
          <a:solidFill>
            <a:srgbClr val="FB5B01"/>
          </a:solidFill>
          <a:ln w="12700">
            <a:solidFill>
              <a:srgbClr val="FB5B0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5436108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error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967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COMPONENT SPECIFICATION CATALOG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6492240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46 / 46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Digital Agency Design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DADS Component Specification Catalog</dc:title>
  <dc:subject>Fixed component specification catalog</dc:subject>
  <dc:creator>Digital Agency Design System</dc:creator>
  <cp:lastModifiedBy>Digital Agency Design System</cp:lastModifiedBy>
  <cp:revision>1</cp:revision>
  <dcterms:created xsi:type="dcterms:W3CDTF">2026-09-27T04:18:29Z</dcterms:created>
  <dcterms:modified xsi:type="dcterms:W3CDTF">2026-09-27T04:18:29Z</dcterms:modified>
</cp:coreProperties>
</file>